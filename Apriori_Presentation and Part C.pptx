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5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4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2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7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46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9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0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1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6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4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0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4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Association Rule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Apriori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preparation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80D6B-2FAA-4B35-AB98-9FDC5450F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3022"/>
            <a:ext cx="9144000" cy="44249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C0A96-6E9D-46FC-9FE1-D0C6A07B8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18" y="-267286"/>
            <a:ext cx="8433582" cy="1322363"/>
          </a:xfrm>
        </p:spPr>
        <p:txBody>
          <a:bodyPr/>
          <a:lstStyle/>
          <a:p>
            <a:r>
              <a:rPr lang="en-US" b="1" dirty="0"/>
              <a:t>PART A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7D7E1-8AC5-40EA-A00C-38E4F2BF3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en-US" dirty="0"/>
              <a:t>Encoding</a:t>
            </a:r>
          </a:p>
          <a:p>
            <a:pPr marL="0" indent="0">
              <a:buNone/>
            </a:pPr>
            <a:endParaRPr lang="en-U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F45DB-1831-404E-B34E-58324C45B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4733"/>
            <a:ext cx="9144000" cy="50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2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36098"/>
            <a:ext cx="8229600" cy="1498722"/>
          </a:xfrm>
        </p:spPr>
        <p:txBody>
          <a:bodyPr/>
          <a:lstStyle/>
          <a:p>
            <a:r>
              <a:rPr b="1" dirty="0"/>
              <a:t>Part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5588"/>
            <a:ext cx="8229600" cy="745587"/>
          </a:xfrm>
        </p:spPr>
        <p:txBody>
          <a:bodyPr/>
          <a:lstStyle/>
          <a:p>
            <a:r>
              <a:rPr dirty="0" err="1"/>
              <a:t>Apriori</a:t>
            </a:r>
            <a:r>
              <a:rPr dirty="0"/>
              <a:t> with support 0.2, confidence 0.5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83487-E646-4850-862D-AB77933D2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1175"/>
            <a:ext cx="9144000" cy="5366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605C-1C30-493E-ADFE-E4B54F1A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0678"/>
            <a:ext cx="8229600" cy="717452"/>
          </a:xfrm>
        </p:spPr>
        <p:txBody>
          <a:bodyPr>
            <a:normAutofit/>
          </a:bodyPr>
          <a:lstStyle/>
          <a:p>
            <a:r>
              <a:rPr lang="en-US" b="1" dirty="0"/>
              <a:t>PART B</a:t>
            </a:r>
            <a:endParaRPr lang="en-UG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2B5AC8-6F0F-40EE-9859-39C286B39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58130"/>
            <a:ext cx="9144000" cy="599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78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89596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sz="3200" b="1" dirty="0">
                <a:solidFill>
                  <a:srgbClr val="0070C0"/>
                </a:solidFill>
              </a:rPr>
              <a:t>Part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20505"/>
            <a:ext cx="8229600" cy="63374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INTERPRETATION OF ASSOCIATION RULES</a:t>
            </a:r>
          </a:p>
          <a:p>
            <a:pPr marL="0" indent="0">
              <a:buNone/>
            </a:pPr>
            <a:r>
              <a:rPr lang="en-US" dirty="0"/>
              <a:t>This section interprets the association rules generated using the </a:t>
            </a:r>
            <a:r>
              <a:rPr lang="en-US" dirty="0" err="1"/>
              <a:t>Apriori</a:t>
            </a:r>
            <a:r>
              <a:rPr lang="en-US" dirty="0"/>
              <a:t> algorithm, focusing on their practical meaning and business implications.</a:t>
            </a:r>
          </a:p>
          <a:p>
            <a:pPr marL="0" indent="0">
              <a:buNone/>
            </a:pPr>
            <a:r>
              <a:rPr lang="en-US" b="1" dirty="0"/>
              <a:t>Strongest association rules identified based on lift</a:t>
            </a:r>
          </a:p>
          <a:p>
            <a:pPr marL="0" indent="0">
              <a:buNone/>
            </a:pPr>
            <a:r>
              <a:rPr lang="en-US" dirty="0"/>
              <a:t>Rule	                     Support	   Confidence	Lift</a:t>
            </a:r>
          </a:p>
          <a:p>
            <a:pPr marL="0" indent="0">
              <a:buNone/>
            </a:pPr>
            <a:r>
              <a:rPr lang="en-US" dirty="0"/>
              <a:t>Diapers → Beer        0.30	                  0.75	              1.88</a:t>
            </a:r>
          </a:p>
          <a:p>
            <a:pPr marL="0" indent="0">
              <a:buNone/>
            </a:pPr>
            <a:r>
              <a:rPr lang="en-US" dirty="0"/>
              <a:t>Beer → Diapers	       0.30	                  0.75	              1.88</a:t>
            </a:r>
          </a:p>
          <a:p>
            <a:pPr marL="0" indent="0">
              <a:buNone/>
            </a:pPr>
            <a:r>
              <a:rPr lang="en-US" dirty="0"/>
              <a:t>Eggs → Milk	       0.30	                  1.00	              1.43</a:t>
            </a:r>
          </a:p>
          <a:p>
            <a:pPr marL="0" indent="0">
              <a:buNone/>
            </a:pPr>
            <a:r>
              <a:rPr lang="en-US" b="1" dirty="0"/>
              <a:t>Interpretation of the rules</a:t>
            </a:r>
          </a:p>
          <a:p>
            <a:pPr marL="0" indent="0">
              <a:buNone/>
            </a:pPr>
            <a:r>
              <a:rPr lang="en-US" b="1" dirty="0"/>
              <a:t>Diapers → Beer: </a:t>
            </a:r>
            <a:r>
              <a:rPr lang="en-US" dirty="0"/>
              <a:t>This rule indicates that customers who purchase diapers are highly likely to also purchase beer. The high confidence and lift value show a strong complementary relationship between the two items.</a:t>
            </a:r>
          </a:p>
          <a:p>
            <a:pPr marL="0" indent="0">
              <a:buNone/>
            </a:pPr>
            <a:r>
              <a:rPr lang="en-US" b="1" dirty="0"/>
              <a:t>Beer → Diapers: </a:t>
            </a:r>
            <a:r>
              <a:rPr lang="en-US" dirty="0"/>
              <a:t>This rule shows that customers buying beer often also buy diapers. This suggests that these products are commonly purchased by the same group of customers, likely family shoppers.</a:t>
            </a:r>
          </a:p>
          <a:p>
            <a:pPr marL="0" indent="0">
              <a:buNone/>
            </a:pPr>
            <a:r>
              <a:rPr lang="en-US" b="1" dirty="0"/>
              <a:t>Eggs → Milk: </a:t>
            </a:r>
            <a:r>
              <a:rPr lang="en-US" dirty="0"/>
              <a:t>This rule shows that all customers who bought eggs also bought milk. This represents a strong and consistent purchasing pattern related to breakfast items.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95422"/>
            <a:ext cx="7772400" cy="181473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PART C</a:t>
            </a:r>
            <a:endParaRPr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9822"/>
            <a:ext cx="8229600" cy="4972612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Business Recommendations</a:t>
            </a:r>
            <a:endParaRPr lang="en-UG" sz="40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The supermarket can increase sales by placing diapers and beer closer together or offering bundle promotions.</a:t>
            </a:r>
            <a:br>
              <a:rPr lang="en-US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Promotional offers combining eggs and milk can be introduced to encourage customers to buy both items together.</a:t>
            </a:r>
            <a:endParaRPr lang="en-UG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Conclusion</a:t>
            </a:r>
            <a:endParaRPr lang="en-UG" sz="4000" b="1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association rules reveal meaningful customer purchasing patterns. These insights can support better product placement, targeted promotions, and improved decision-making in retail management.</a:t>
            </a:r>
            <a:endParaRPr lang="en-UG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71</TotalTime>
  <Words>277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MS Gothic</vt:lpstr>
      <vt:lpstr>MS Mincho</vt:lpstr>
      <vt:lpstr>Calibri</vt:lpstr>
      <vt:lpstr>Cambria</vt:lpstr>
      <vt:lpstr>Rockwell</vt:lpstr>
      <vt:lpstr>Rockwell Condensed</vt:lpstr>
      <vt:lpstr>Times New Roman</vt:lpstr>
      <vt:lpstr>Wingdings</vt:lpstr>
      <vt:lpstr>Wood Type</vt:lpstr>
      <vt:lpstr>Association Rule Mining</vt:lpstr>
      <vt:lpstr>Part A</vt:lpstr>
      <vt:lpstr>PART A</vt:lpstr>
      <vt:lpstr>Part B</vt:lpstr>
      <vt:lpstr>PART B</vt:lpstr>
      <vt:lpstr>Part C</vt:lpstr>
      <vt:lpstr>PART 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Association Rule Mining</dc:title>
  <dc:subject/>
  <dc:creator/>
  <cp:keywords/>
  <dc:description>generated using python-pptx</dc:description>
  <cp:lastModifiedBy>KYAMANYWA RONALD</cp:lastModifiedBy>
  <cp:revision>6</cp:revision>
  <dcterms:created xsi:type="dcterms:W3CDTF">2013-01-27T09:14:16Z</dcterms:created>
  <dcterms:modified xsi:type="dcterms:W3CDTF">2025-12-14T12:22:28Z</dcterms:modified>
  <cp:category/>
</cp:coreProperties>
</file>